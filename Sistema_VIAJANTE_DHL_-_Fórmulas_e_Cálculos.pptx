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20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9455B-1374-D27A-2E89-448AFBA3D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D0753-C73A-BD22-D1D3-FAC2353B5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622A5-5890-01D8-4054-A36AD637E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B74CA-E7C8-C91A-B9C5-8B5F22F634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8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jpe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6697" y="649216"/>
            <a:ext cx="485060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SISTEMA VIAJANTE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501263" y="1500261"/>
            <a:ext cx="4270177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Fórmulas, Cálculos e Lógica Operacional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921063" y="4774658"/>
            <a:ext cx="130194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Apresentação Técnica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325" y="1941018"/>
            <a:ext cx="5104070" cy="26000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28713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VISÃO GERAL DO SISTEMA VIAJANTE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9" y="1459111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8688" y="1414463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Objetivo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928688" y="1680567"/>
            <a:ext cx="32861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Automatizar o cálculo de logística e ocupação de carga.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9" y="2059521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8688" y="2014872"/>
            <a:ext cx="28860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Fluxo de Dados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28688" y="2280977"/>
            <a:ext cx="28860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 entre PN, MDR e dados operacionais.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9" y="2659931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8688" y="2615282"/>
            <a:ext cx="32611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Precisão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928688" y="2881387"/>
            <a:ext cx="326112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Cálculos de volume, peso e saturação para otimização.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6215063" y="1600702"/>
            <a:ext cx="1785938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PROCESSAMENTO DE QUANTIDADES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514475"/>
            <a:ext cx="8286750" cy="107156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514475"/>
            <a:ext cx="71438" cy="1071563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2938" y="1657350"/>
            <a:ext cx="807243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4378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QTD EMBALAGENS = ⌈QTDE ÷ QME⌉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28625" y="2757488"/>
            <a:ext cx="24860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QTDE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966442"/>
            <a:ext cx="24860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Quantidade solicitada de peças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328988" y="2757488"/>
            <a:ext cx="24860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28988" y="2966442"/>
            <a:ext cx="24860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Quantidade de Material por Embalagem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29350" y="2757488"/>
            <a:ext cx="24860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⌈ 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29350" y="2966442"/>
            <a:ext cx="24860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Função TETO (arredonda para cima)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28625" y="3293269"/>
            <a:ext cx="8286750" cy="85725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42938" y="3436144"/>
            <a:ext cx="807243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Exemplo Prático: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2938" y="3684389"/>
            <a:ext cx="807243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1.500 peças ÷ 400 (QME) = 3,75 → </a:t>
            </a: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Embalagens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CÁLCULOS DE VOLUME (M³)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4750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231" y="1428750"/>
            <a:ext cx="158769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Volume por Linha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28625" y="1780580"/>
            <a:ext cx="4000500" cy="85725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428625" y="1780580"/>
            <a:ext cx="57150" cy="85725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642938" y="2149376"/>
            <a:ext cx="3589734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4378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M³ = QTD EMBALAGENS × VOL_UNIT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8625" y="2852142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volume de cada linha é o produto da </a:t>
            </a:r>
            <a:r>
              <a:rPr lang="en-US" sz="85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quantidade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embalagens calculada anteriormente pelo volume unitário da embalagem cadastrada no MDR.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447502"/>
            <a:ext cx="192881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14913" y="1428750"/>
            <a:ext cx="202346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Volume Total da Carga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714875" y="1780580"/>
            <a:ext cx="4000500" cy="85725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9"/>
          <p:cNvSpPr/>
          <p:nvPr/>
        </p:nvSpPr>
        <p:spPr>
          <a:xfrm>
            <a:off x="4714875" y="1780580"/>
            <a:ext cx="57150" cy="85725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4929188" y="2149376"/>
            <a:ext cx="2034183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4378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VOL TOTAL = Σ(M³)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14875" y="2852142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Consolidação de todos os volumes individuais para determinar a necessidade de espaço total no </a:t>
            </a:r>
            <a:r>
              <a:rPr lang="en-US" sz="85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veículo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selecionado.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428625" y="3652242"/>
            <a:ext cx="828675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642938" y="3795117"/>
            <a:ext cx="80724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Exemplo de Cálculo: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42938" y="4039791"/>
            <a:ext cx="8072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QTD EMBALAGENS: 4 caixas
• VOLUME_UNITARIO: 0,125 m³/caixa
• </a:t>
            </a: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M³ por Linha: 4 × 0,125 = 0,500 m³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CÁLCULOS DE PESO (KG)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571625"/>
            <a:ext cx="2762259" cy="31146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571625"/>
            <a:ext cx="2762259" cy="42863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802904"/>
            <a:ext cx="19645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9397" y="1785938"/>
            <a:ext cx="11144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Peso Material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07219" y="2119908"/>
            <a:ext cx="240507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QTDE × PESO_UNIT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07219" y="2384227"/>
            <a:ext cx="24050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Peso líquido das peças solicitadas baseado no cadastro do Part Number (PN).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07219" y="2870002"/>
            <a:ext cx="2405072" cy="678656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607219" y="2870002"/>
            <a:ext cx="2405072" cy="678656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</a:t>
            </a: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1.500 pçs × 0,35kg = 525,0 kg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190884" y="1571625"/>
            <a:ext cx="2762259" cy="31146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3190884" y="1571625"/>
            <a:ext cx="2762259" cy="42863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478" y="1802904"/>
            <a:ext cx="196453" cy="1571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51656" y="1785938"/>
            <a:ext cx="143589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Peso Embalagem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369478" y="2119908"/>
            <a:ext cx="240507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QTD EMB × PESO_MDR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369478" y="2384227"/>
            <a:ext cx="24050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Peso das embalagens vazias (MDR) necessárias para o transporte.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369478" y="2870002"/>
            <a:ext cx="2405072" cy="678656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3369478" y="2870002"/>
            <a:ext cx="2405072" cy="678656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</a:t>
            </a: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4 caixas × 2,5kg = 10,0 kg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5953144" y="1571625"/>
            <a:ext cx="2762259" cy="31146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5953144" y="1571625"/>
            <a:ext cx="2762259" cy="42863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1737" y="1802904"/>
            <a:ext cx="157163" cy="1571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74625" y="1785938"/>
            <a:ext cx="8429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Peso Total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131737" y="2119908"/>
            <a:ext cx="240507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PESO MAT + PESO MDR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131737" y="2384227"/>
            <a:ext cx="24050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Soma total do peso da carga por linha para validação de capacidade do </a:t>
            </a:r>
            <a:r>
              <a:rPr lang="en-US" sz="85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veículo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131737" y="2870002"/>
            <a:ext cx="2405072" cy="678656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6131737" y="2870002"/>
            <a:ext cx="2405072" cy="678656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</a:t>
            </a: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525,0 + 10,0 = 535,0 kg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SATURAÇÃO E CAPACIDADE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642476"/>
            <a:ext cx="4000500" cy="29468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Lógica de Paletização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115750"/>
            <a:ext cx="12501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797" y="2080031"/>
            <a:ext cx="1178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Paletizável:</a:t>
            </a: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CXS_POR_PALLET = 1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658675"/>
            <a:ext cx="16073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6516" y="2622956"/>
            <a:ext cx="217527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Paletizável:</a:t>
            </a: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Valor extraído do BD_CADASTRO_MDR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201600"/>
            <a:ext cx="10715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2938" y="3165881"/>
            <a:ext cx="196095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de Pallets:</a:t>
            </a: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Total de Caixas ÷ CXS_POR_PALLET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714875" y="1642476"/>
            <a:ext cx="4000500" cy="29468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Capacidade do Veículo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714875" y="2080031"/>
            <a:ext cx="4000500" cy="214312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2258625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07781" y="2222906"/>
            <a:ext cx="262354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 Dinâmica:</a:t>
            </a: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Prioriza capacidade específica por fornecedor.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801550"/>
            <a:ext cx="142875" cy="1428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07781" y="2765831"/>
            <a:ext cx="3464719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Tratamento de Variância:</a:t>
            </a: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Se variância &gt; 50% da Moda, utiliza a </a:t>
            </a:r>
            <a:r>
              <a:rPr lang="en-US" sz="85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Moda</a:t>
            </a: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Caso contrário, utiliza o </a:t>
            </a:r>
            <a:r>
              <a:rPr lang="en-US" sz="85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Máximo</a:t>
            </a: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CÁLCULOS DE SATURAÇÃO (%)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518940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0094" y="1500188"/>
            <a:ext cx="191273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Saturação de Volume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28625" y="1852017"/>
            <a:ext cx="3857625" cy="10287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428625" y="1852017"/>
            <a:ext cx="3857625" cy="28575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571500" y="1994892"/>
            <a:ext cx="3714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4378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SAT VOLUME (%) = 
QTD EMBALAGENS × SAT_POR_MDR × 100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28625" y="3030736"/>
            <a:ext cx="3857625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SAT_POR_MDR: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Saturação unitária considerando </a:t>
            </a:r>
            <a:r>
              <a:rPr lang="en-US" sz="85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eficiência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comprimento e empilhamento.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28625" y="3467900"/>
            <a:ext cx="3857625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Foco: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Ocupação volumétrica real do compartimento de carga.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28625" y="3030736"/>
            <a:ext cx="4286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28625" y="3467900"/>
            <a:ext cx="4286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518940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6356" y="1500188"/>
            <a:ext cx="16573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Saturação de Peso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857750" y="1852017"/>
            <a:ext cx="3857625" cy="10287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4857750" y="1852017"/>
            <a:ext cx="3857625" cy="28575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5000625" y="1994892"/>
            <a:ext cx="3714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4378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SAT PESO (%) = 
(PESO TOTAL ÷ PESO_MAX_VEIC) × 100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857750" y="3030736"/>
            <a:ext cx="3857625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PESO TOTAL: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Soma do peso do material e da embalagem (MDR).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857750" y="3285037"/>
            <a:ext cx="3857625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PESO_MAX_VEIC: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Capacidade nominal de carga do </a:t>
            </a:r>
            <a:r>
              <a:rPr lang="en-US" sz="85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veículo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selecionado.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857750" y="3030736"/>
            <a:ext cx="4286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857750" y="3285037"/>
            <a:ext cx="4286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LÓGICA DE EMPILHAMENTO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569839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2950" y="1500188"/>
            <a:ext cx="43291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Identificação de Pares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42950" y="1709142"/>
            <a:ext cx="43291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sistema identifica automaticamente embalagens </a:t>
            </a:r>
            <a:r>
              <a:rPr lang="en-US" sz="9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</a:t>
            </a: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9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SOBREPOSTAS</a:t>
            </a: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conforme o cadastro de empilhamento.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343150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2950" y="2273498"/>
            <a:ext cx="43291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Loop de Otimização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742950" y="2482453"/>
            <a:ext cx="43291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Executa um processamento iterativo para validar se a base suporta a sobreposta até esgotar o estoque ou atingir o limite físico.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116461"/>
            <a:ext cx="128588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0088" y="3046809"/>
            <a:ext cx="43719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Cálculo de Saturação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700088" y="3255764"/>
            <a:ext cx="43719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saturação final é ajustada considerando o ganho de espaço vertical, reduzindo a pegada no assoalho do </a:t>
            </a:r>
            <a:r>
              <a:rPr lang="en-US" sz="950" dirty="0" err="1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veículo</a:t>
            </a: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5072063" y="1500188"/>
            <a:ext cx="3643313" cy="312896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9"/>
          <p:cNvSpPr/>
          <p:nvPr/>
        </p:nvSpPr>
        <p:spPr>
          <a:xfrm>
            <a:off x="5072063" y="1500188"/>
            <a:ext cx="3643313" cy="5715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75" y="1731466"/>
            <a:ext cx="157163" cy="1571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14975" y="1714500"/>
            <a:ext cx="13430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Exemplo Prático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5286375" y="2048470"/>
            <a:ext cx="3214688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r>
              <a:rPr lang="en-US" sz="8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Configuração: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 Bases para 1 Sobreposta
• </a:t>
            </a:r>
            <a:r>
              <a:rPr lang="en-US" sz="8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Disponível: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30 Bases e 8 Sobrepostas
 </a:t>
            </a:r>
            <a:r>
              <a:rPr lang="en-US" sz="8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O sistema agrupa 9 bases com 3 sobrepostas, resultando em </a:t>
            </a:r>
            <a:r>
              <a:rPr lang="en-US" sz="8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caixas empilhadas</a:t>
            </a: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forma otimizada.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CONSOLIDAÇÃO E VEÍCULOS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500188"/>
            <a:ext cx="4143375" cy="100012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500188"/>
            <a:ext cx="57150" cy="1000125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2938" y="1844873"/>
            <a:ext cx="39290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Ocupação Total (%)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2938" y="2073473"/>
            <a:ext cx="392906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Σ(SAT VOLUME %)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8625" y="2714625"/>
            <a:ext cx="4143375" cy="1000125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28625" y="2714625"/>
            <a:ext cx="57150" cy="1000125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2938" y="3053060"/>
            <a:ext cx="39290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4378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Quantidade de Veículos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2938" y="3281660"/>
            <a:ext cx="3929063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78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⌈OCUPAÇÃO TOTAL ÷ 100⌉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8625" y="3929063"/>
            <a:ext cx="41433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sistema consolida todas as linhas processadas para determinar a necessidade real de transporte, arredondando sempre para cima para garantir a capacidade total.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0" y="1500188"/>
            <a:ext cx="4143375" cy="3429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857750" y="1714500"/>
            <a:ext cx="3571875" cy="30539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Hierarquia de Veículos</a:t>
            </a:r>
            <a:endParaRPr lang="en-US" sz="11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603" y="2257425"/>
            <a:ext cx="160734" cy="128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36494" y="2234208"/>
            <a:ext cx="10822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Carreta / Big Sider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180" y="2544961"/>
            <a:ext cx="125016" cy="142875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7013" y="2769989"/>
            <a:ext cx="160734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74904" y="2746772"/>
            <a:ext cx="8054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Truck Viagem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180" y="3057525"/>
            <a:ext cx="125016" cy="142875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2023" y="3282553"/>
            <a:ext cx="160734" cy="128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49913" y="3259336"/>
            <a:ext cx="6554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Veículo 3/4</a:t>
            </a:r>
            <a:endParaRPr lang="en-US" sz="9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180" y="3570089"/>
            <a:ext cx="125016" cy="142875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6335" y="3795117"/>
            <a:ext cx="160734" cy="1285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64226" y="3771900"/>
            <a:ext cx="2268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1180" y="4082653"/>
            <a:ext cx="125016" cy="142875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8647" y="4307681"/>
            <a:ext cx="128588" cy="128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554391" y="4284464"/>
            <a:ext cx="4143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Fiorino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RESUMO DOS INDICADORES (KPIS)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32197" y="1503759"/>
            <a:ext cx="1227999" cy="428625"/>
          </a:xfrm>
          <a:prstGeom prst="rect">
            <a:avLst/>
          </a:prstGeom>
          <a:solidFill>
            <a:srgbClr val="243782"/>
          </a:solidFill>
          <a:ln w="9144">
            <a:solidFill>
              <a:srgbClr val="2437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32197" y="1503759"/>
            <a:ext cx="1227999" cy="428625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INDICADOR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660196" y="1503759"/>
            <a:ext cx="984024" cy="428625"/>
          </a:xfrm>
          <a:prstGeom prst="rect">
            <a:avLst/>
          </a:prstGeom>
          <a:solidFill>
            <a:srgbClr val="243782"/>
          </a:solidFill>
          <a:ln w="9144">
            <a:solidFill>
              <a:srgbClr val="2437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660196" y="1503759"/>
            <a:ext cx="984024" cy="428625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UNIDADE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41290" y="1503759"/>
            <a:ext cx="6070513" cy="428625"/>
          </a:xfrm>
          <a:prstGeom prst="rect">
            <a:avLst/>
          </a:prstGeom>
          <a:solidFill>
            <a:srgbClr val="243782"/>
          </a:solidFill>
          <a:ln w="9144">
            <a:solidFill>
              <a:srgbClr val="2437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641290" y="1503759"/>
            <a:ext cx="6070513" cy="428625"/>
          </a:xfrm>
          <a:prstGeom prst="rect">
            <a:avLst/>
          </a:prstGeom>
          <a:noFill/>
          <a:ln/>
        </p:spPr>
        <p:txBody>
          <a:bodyPr wrap="square" lIns="170053" tIns="85090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DESCRIÇÃO OPERACIONAL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2197" y="1925241"/>
            <a:ext cx="1229199" cy="571500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Volume Total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61396" y="1925241"/>
            <a:ext cx="976908" cy="571500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m³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638304" y="1925241"/>
            <a:ext cx="6073499" cy="571500"/>
          </a:xfrm>
          <a:prstGeom prst="rect">
            <a:avLst/>
          </a:prstGeom>
          <a:noFill/>
          <a:ln/>
        </p:spPr>
        <p:txBody>
          <a:bodyPr wrap="squar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Soma consolidada de todos os volumes (M³) de todas as linhas do template.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2197" y="2496741"/>
            <a:ext cx="1229199" cy="571500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Peso Total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661396" y="2496741"/>
            <a:ext cx="976908" cy="571500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8304" y="2496741"/>
            <a:ext cx="6073499" cy="571500"/>
          </a:xfrm>
          <a:prstGeom prst="rect">
            <a:avLst/>
          </a:prstGeom>
          <a:noFill/>
          <a:ln/>
        </p:spPr>
        <p:txBody>
          <a:bodyPr wrap="squar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Soma de todos os pesos totais (Material + Embalagem) de todas as linhas.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2197" y="3068241"/>
            <a:ext cx="1229199" cy="571500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Ocupação Total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661396" y="3068241"/>
            <a:ext cx="976908" cy="571500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38304" y="3068241"/>
            <a:ext cx="6073499" cy="571500"/>
          </a:xfrm>
          <a:prstGeom prst="rect">
            <a:avLst/>
          </a:prstGeom>
          <a:noFill/>
          <a:ln/>
        </p:spPr>
        <p:txBody>
          <a:bodyPr wrap="squar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Soma das saturações de volume individuais para determinar o preenchimento da frota.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32197" y="3639741"/>
            <a:ext cx="1229199" cy="571500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7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Qtd Veículos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661396" y="3639741"/>
            <a:ext cx="976908" cy="571500"/>
          </a:xfrm>
          <a:prstGeom prst="rect">
            <a:avLst/>
          </a:prstGeom>
          <a:noFill/>
          <a:ln/>
        </p:spPr>
        <p:txBody>
          <a:bodyPr wrap="non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638304" y="3639741"/>
            <a:ext cx="6073499" cy="571500"/>
          </a:xfrm>
          <a:prstGeom prst="rect">
            <a:avLst/>
          </a:prstGeom>
          <a:noFill/>
          <a:ln/>
        </p:spPr>
        <p:txBody>
          <a:bodyPr wrap="square" lIns="170053" tIns="85090" rIns="8509" bIns="8509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Cálculo baseado no teto da ocupação total dividida pela capacidade nominal (100%).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28625" y="4300538"/>
            <a:ext cx="82867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Todos os cálculos seguem as regras de arredondamento e tratamento de exceções definidas no sistema.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A046-DD74-2368-1409-838BE3CC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493D55C-84BE-9648-6314-9EB3B09520AD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94D7B20-C3AE-8B7C-1118-7D03DF2A939A}"/>
              </a:ext>
            </a:extLst>
          </p:cNvPr>
          <p:cNvSpPr/>
          <p:nvPr/>
        </p:nvSpPr>
        <p:spPr>
          <a:xfrm>
            <a:off x="428625" y="285750"/>
            <a:ext cx="871537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PONTOS DE ATENÇÃO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5C8C62D-393E-1829-9F21-854FDF1D07E8}"/>
              </a:ext>
            </a:extLst>
          </p:cNvPr>
          <p:cNvSpPr/>
          <p:nvPr/>
        </p:nvSpPr>
        <p:spPr>
          <a:xfrm>
            <a:off x="2641290" y="1503759"/>
            <a:ext cx="6070513" cy="428625"/>
          </a:xfrm>
          <a:prstGeom prst="rect">
            <a:avLst/>
          </a:prstGeom>
          <a:noFill/>
          <a:ln/>
        </p:spPr>
        <p:txBody>
          <a:bodyPr wrap="square" lIns="170053" tIns="85090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DESCRIÇÃO OPERACIONAL</a:t>
            </a:r>
            <a:endParaRPr lang="en-US" sz="10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09989AF3-4AB1-EC3F-0323-9D8D73C92419}"/>
              </a:ext>
            </a:extLst>
          </p:cNvPr>
          <p:cNvSpPr/>
          <p:nvPr/>
        </p:nvSpPr>
        <p:spPr>
          <a:xfrm>
            <a:off x="815340" y="1699167"/>
            <a:ext cx="3451860" cy="678656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Atualização de base de </a:t>
            </a:r>
            <a:r>
              <a:rPr lang="en-US" sz="12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Fluxo</a:t>
            </a: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 </a:t>
            </a:r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Veículo Principal</a:t>
            </a:r>
          </a:p>
          <a:p>
            <a:endParaRPr lang="pt-BR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FE1A1F68-6056-D18E-1F8C-759F08E0A1F3}"/>
              </a:ext>
            </a:extLst>
          </p:cNvPr>
          <p:cNvSpPr/>
          <p:nvPr/>
        </p:nvSpPr>
        <p:spPr>
          <a:xfrm>
            <a:off x="5425440" y="1699167"/>
            <a:ext cx="3451860" cy="678656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Eficiência de empilhamento de MDR ( MDR Base)</a:t>
            </a: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C712E8AA-9EE4-2C81-9712-9328637127E3}"/>
              </a:ext>
            </a:extLst>
          </p:cNvPr>
          <p:cNvSpPr/>
          <p:nvPr/>
        </p:nvSpPr>
        <p:spPr>
          <a:xfrm>
            <a:off x="815340" y="3209835"/>
            <a:ext cx="3451860" cy="678656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Eficiência de empilhamento de MDR ( MDR Base)</a:t>
            </a:r>
          </a:p>
          <a:p>
            <a:pPr algn="ctr">
              <a:lnSpc>
                <a:spcPct val="150000"/>
              </a:lnSpc>
            </a:pPr>
            <a:endParaRPr lang="pt-BR" sz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F1873B75-59E7-C92B-49EA-26817E6896F7}"/>
              </a:ext>
            </a:extLst>
          </p:cNvPr>
          <p:cNvSpPr/>
          <p:nvPr/>
        </p:nvSpPr>
        <p:spPr>
          <a:xfrm>
            <a:off x="5425440" y="3148875"/>
            <a:ext cx="3451860" cy="678656"/>
          </a:xfrm>
          <a:prstGeom prst="rect">
            <a:avLst/>
          </a:prstGeom>
          <a:solidFill>
            <a:srgbClr val="243782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Quantidade de </a:t>
            </a:r>
            <a:r>
              <a:rPr lang="en-US" sz="1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itens</a:t>
            </a: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1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caixas</a:t>
            </a: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palete</a:t>
            </a:r>
            <a:endParaRPr lang="pt-BR" sz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endParaRPr lang="pt-BR" sz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6BA126-914F-A845-8337-D5DFC5BA07CF}"/>
              </a:ext>
            </a:extLst>
          </p:cNvPr>
          <p:cNvSpPr/>
          <p:nvPr/>
        </p:nvSpPr>
        <p:spPr>
          <a:xfrm>
            <a:off x="104356" y="157930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DCD554-2689-434D-C258-19B1C0D5B1E2}"/>
              </a:ext>
            </a:extLst>
          </p:cNvPr>
          <p:cNvSpPr/>
          <p:nvPr/>
        </p:nvSpPr>
        <p:spPr>
          <a:xfrm>
            <a:off x="138646" y="310315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C8FC68-7AC5-5925-2DFB-5D6AB95417AD}"/>
              </a:ext>
            </a:extLst>
          </p:cNvPr>
          <p:cNvSpPr/>
          <p:nvPr/>
        </p:nvSpPr>
        <p:spPr>
          <a:xfrm>
            <a:off x="4723240" y="157106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593CDE-1669-D4AB-2130-90A537632FA3}"/>
              </a:ext>
            </a:extLst>
          </p:cNvPr>
          <p:cNvSpPr/>
          <p:nvPr/>
        </p:nvSpPr>
        <p:spPr>
          <a:xfrm>
            <a:off x="4686300" y="306463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947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de0bb8-21e0-4ae3-9906-7ac25165b779}" enabled="1" method="Privileged" siteId="{d852d5cd-724c-4128-8812-ffa5db3f85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790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Fira Code</vt:lpstr>
      <vt:lpstr>Montserrat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PERNARH (EXTERNAL)</cp:lastModifiedBy>
  <cp:revision>4</cp:revision>
  <dcterms:created xsi:type="dcterms:W3CDTF">2026-05-12T00:11:12Z</dcterms:created>
  <dcterms:modified xsi:type="dcterms:W3CDTF">2026-05-12T12:23:28Z</dcterms:modified>
</cp:coreProperties>
</file>